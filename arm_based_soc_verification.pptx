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33" r:id="rId5"/>
    <p:sldId id="360" r:id="rId6"/>
    <p:sldId id="338" r:id="rId7"/>
    <p:sldId id="382" r:id="rId8"/>
    <p:sldId id="384" r:id="rId9"/>
    <p:sldId id="385" r:id="rId10"/>
    <p:sldId id="370" r:id="rId11"/>
    <p:sldId id="373" r:id="rId12"/>
    <p:sldId id="387" r:id="rId13"/>
    <p:sldId id="389" r:id="rId14"/>
    <p:sldId id="375" r:id="rId15"/>
    <p:sldId id="381" r:id="rId16"/>
    <p:sldId id="377" r:id="rId17"/>
    <p:sldId id="378" r:id="rId18"/>
    <p:sldId id="379" r:id="rId19"/>
    <p:sldId id="380" r:id="rId20"/>
    <p:sldId id="354" r:id="rId21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CA"/>
    <a:srgbClr val="01E5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 autoAdjust="0"/>
    <p:restoredTop sz="94655" autoAdjust="0"/>
  </p:normalViewPr>
  <p:slideViewPr>
    <p:cSldViewPr snapToGrid="0">
      <p:cViewPr varScale="1">
        <p:scale>
          <a:sx n="182" d="100"/>
          <a:sy n="182" d="100"/>
        </p:scale>
        <p:origin x="1032" y="4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3/15/26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3/15/26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B4524D4-F713-E563-D1A7-3E1DE52F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1C6B34C-C370-8252-62D0-6F16022C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D46D46B-5E31-55A0-FC35-87A4FB3A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7D63AA-10AF-817C-3FA8-C3C3CD7F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0785FC4-EF47-6A5D-4541-E3290578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0429B91-8BA2-60E1-F6A1-5A2359A9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4579FB-0535-0E7B-EA0D-AE079FAF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A2608-63F3-731E-0A43-0E240CF5A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CE49A-81F4-962F-8DCE-0F4B9D70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5E175-A34B-F1FE-C21F-0191BB16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id="{955E0A3A-BD31-2674-02EE-D5CC54C0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64F984E-6A1B-A033-4FBC-3158758B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38D67BC-3BCF-76A8-9BF0-60648407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0DD8D16-D0C7-F3D2-48A8-A579B2B2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F7F5830D-261D-69B1-C97B-FDEBA7981C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8F6DB-3386-E235-75C0-20558DA7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F2573-CDFF-C67F-9717-D82E1044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id="{82E72972-EE2B-F497-1D5C-258895385D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id="{B208AAAC-B842-3E72-F9B0-65241B8AEA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EB5B2F-8E61-F43A-1D59-1F1F0DB3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2A2476-1589-B9D9-5D0A-5553436A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id="{964A9B18-35DE-8478-ED82-3451640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7076EBE-8B9B-D80E-9D47-670E9B0C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E827913-4E68-200E-74E6-BA627AD3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E4976D-B589-0C31-E7E9-4482138C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69F5D76E-8F7F-EBB8-F6C2-59CB707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04/26/2025</a:t>
            </a:r>
            <a:fld id="{990E4242-8CA0-457D-B3B1-7D78B4164321}" type="datetime1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527B57-46D4-DC53-E28F-8A420C8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12AECC-AEEF-9D31-81F0-BCB9078C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AA2FA1EE-FD32-9C64-3B6B-7AC3E380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C2B6F59-ED68-51DC-A79B-DBB58FF8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90280B4-6872-BA31-B1E5-F2FAF9A8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BA2446B5-DBA6-557B-92E7-CE3595DF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F6B9B460-038F-94C6-5604-883BAEC67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8AEA442-11FE-1B85-7968-9FE21AEDB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4D58676-1C6B-6FA9-251E-AC5FBEE2B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27641C1-A183-119C-6C5B-7AA58CE87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55EB0A70-04CD-26DE-BE20-EF655D8B7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7E4709C2-0D04-D67A-EAD6-46FA0B3D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D2170013-17CD-7570-6413-53FD1A32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4EB612-D143-1C59-FAC1-BE3F2604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B5478D54-1F0E-F8E7-4B93-88A2EC96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90152C41-78FB-BD6F-653B-DE9008C1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45EDBA9A-BBB2-C38B-35AA-3332717F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4B859A9-1821-2589-D888-96C351D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1CDF053D-9E1A-5ADF-E378-BC1B594D5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E3C03305-0727-063D-F65D-52727C5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039F7129-301F-37A1-8705-D22FCF30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98D78AA-FF02-2016-CF6A-C287F8BFB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731F5CAE-1167-CB4F-9EA2-587063BB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C52FFC89-9C77-38D4-A1FD-0A2BAEA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97690AD-7FA4-0418-6C03-72D30D2E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C8158AE-2E1B-8E88-C942-74974BB4C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5ACE21C4-AC61-BA7B-3232-A517F53A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3CD1190-01A7-D05B-1964-F61E740C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4A18FB04-9E36-8821-63A6-D2D4B3017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E234B26-4369-21D0-047C-F9011FF3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C616BFE-87E7-15B1-BE25-55D1A05B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3E786F4-E71D-CFC6-78CC-37D062171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8D5D10E-35CF-5B74-29A6-11679EB8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59F69B48-F459-FF66-26A9-7EC00C9F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4C43E1-0073-A35D-0A04-ED32FA1BF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49555A3-9265-EF73-CF8C-45D64D56F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D85C6AE-2C4C-5E38-47AE-05318D66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071C948-EB93-1CA0-72C9-A49862E4C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79A9D4-2DE0-F5AB-C643-7D6C624F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D787054-1839-E686-38C1-14B88403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B5DC763-7A3E-F543-D730-F1D0DB8E7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BD5A08B-EED8-797D-F25E-F1027E0C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90AF34F-C900-E182-C79E-F87C625D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05FFA936-7860-03EC-833F-6A837DCB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23AC08E-BB10-EDBA-C0E3-558A1F461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362DB80-9F02-EB8E-FC5F-14EB115D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9E8EB8E-D63B-6AF9-B3A0-B05D41CD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48AF7A1-40D5-5DBA-10C9-828BAC16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0AE8DFC-9941-7AAD-BE59-0C47E3A3D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D599065-206D-B396-91F8-07BD1D0B1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C2F8FA1-07E9-4B86-7FE6-89A71303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2EE4FA8-C14D-42BE-7F2F-3EC2A325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2D94787-2437-0D44-4DC0-5BF87C1E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466DC4A4-5BC3-6A6B-8176-7BBAE433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EC75204E-6665-1741-E3D7-F49BC009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185E67F-DBF6-C265-5156-18A6640D0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F962006A-7A6E-64B1-877A-0C57CD526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C863B5-260B-6940-CC7B-7FEF1C98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005E8BA8-BCB0-A21C-E1D5-6671C670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D6ABBB03-AFDB-81BD-70C3-D82D136C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FEF54682-8F32-1FB8-5785-1FA2F6F71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3A95296-5CDA-E3B3-0B57-4566F9E1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74B0C123-9686-1617-39D2-ADE5CB58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0D3B3C2-1BB1-17EC-DF54-658C48FEB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4C7D082-4357-BB5A-753E-4B6EA3EC4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BAC39D4-5856-D842-EA76-04E9A2EB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27DE7F7-878C-3AF0-EA9B-1DE8C71E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699C92D-BDAD-4000-0449-3E584792C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3F34FB20-BE4A-0B89-93B2-F2C8BBD5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77006229-5A5A-3798-EEFB-9570D3BC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FDCED18-C414-F7C6-D98C-8B3AC35E6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0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654" r:id="rId7"/>
    <p:sldLayoutId id="2147483778" r:id="rId8"/>
    <p:sldLayoutId id="2147483779" r:id="rId9"/>
    <p:sldLayoutId id="2147483666" r:id="rId10"/>
    <p:sldLayoutId id="2147483782" r:id="rId11"/>
    <p:sldLayoutId id="2147483669" r:id="rId12"/>
    <p:sldLayoutId id="2147483701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667" r:id="rId22"/>
    <p:sldLayoutId id="2147483668" r:id="rId23"/>
    <p:sldLayoutId id="2147483781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767" r:id="rId50"/>
    <p:sldLayoutId id="2147483768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80" r:id="rId58"/>
    <p:sldLayoutId id="2147483702" r:id="rId59"/>
    <p:sldLayoutId id="2147483703" r:id="rId60"/>
    <p:sldLayoutId id="2147483704" r:id="rId61"/>
    <p:sldLayoutId id="2147483705" r:id="rId62"/>
    <p:sldLayoutId id="2147483706" r:id="rId63"/>
    <p:sldLayoutId id="2147483777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anchor="b">
            <a:normAutofit/>
          </a:bodyPr>
          <a:lstStyle/>
          <a:p>
            <a:r>
              <a:rPr lang="en-US" dirty="0"/>
              <a:t> ARM Based SoC Verification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0CE869D-5F24-2C3C-645F-926B3E301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26B5F4F9-81C1-BCFC-FAE1-C1E518A17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58" r="25375" b="-2"/>
          <a:stretch>
            <a:fillRect/>
          </a:stretch>
        </p:blipFill>
        <p:spPr>
          <a:xfrm>
            <a:off x="20" y="2"/>
            <a:ext cx="467127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E41FD-3593-DFB7-7AEF-19575C7907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59658" y="6089333"/>
            <a:ext cx="2116137" cy="292994"/>
          </a:xfrm>
        </p:spPr>
        <p:txBody>
          <a:bodyPr anchor="b">
            <a:normAutofit/>
          </a:bodyPr>
          <a:lstStyle/>
          <a:p>
            <a:r>
              <a:rPr lang="en-US" altLang="zh-CN"/>
              <a:t>Presenter Name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5C3F-9600-BA1B-3AE6-404D35A7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/>
          <a:lstStyle/>
          <a:p>
            <a:r>
              <a:rPr lang="en-US" altLang="zh-CN"/>
              <a:t>Agenda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60CB-001E-8496-62D0-5D43CC95EA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/>
          <a:lstStyle/>
          <a:p>
            <a:r>
              <a:rPr lang="en-US" altLang="zh-CN" dirty="0"/>
              <a:t>ARM Based SoC Architecture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41B84-89BD-2B29-9220-AC06461FDE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/>
          <a:lstStyle/>
          <a:p>
            <a:r>
              <a:rPr lang="en-US" altLang="zh-CN" dirty="0"/>
              <a:t>UVM TB 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44F4D-50C9-C0AA-0CD2-27EEDB73484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/>
          <a:lstStyle/>
          <a:p>
            <a:r>
              <a:rPr lang="en-US" altLang="zh-CN" dirty="0" err="1"/>
              <a:t>Bringup</a:t>
            </a:r>
            <a:r>
              <a:rPr lang="en-US" altLang="zh-CN" dirty="0"/>
              <a:t> and CPU Boot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AE4162-7818-C139-F244-D080B1E696C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/>
          <a:lstStyle/>
          <a:p>
            <a:r>
              <a:rPr lang="en-US" altLang="zh-CN" dirty="0"/>
              <a:t>Fabric Verification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65370-A3A1-A440-2E55-5BD6DA09C5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/>
          <a:lstStyle/>
          <a:p>
            <a:r>
              <a:rPr lang="en-US" altLang="zh-CN" dirty="0"/>
              <a:t>PCR Verification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59B1F0-1D49-2300-A52C-DA663F2DBA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/>
          <a:lstStyle/>
          <a:p>
            <a:r>
              <a:rPr lang="en-US" altLang="zh-CN" dirty="0"/>
              <a:t>Boot Flow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7758194-D588-91A2-755F-D83C0A3ADED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/>
          <a:lstStyle/>
          <a:p>
            <a:r>
              <a:rPr lang="en-US" altLang="zh-CN" dirty="0"/>
              <a:t>GLS/DFX Verification </a:t>
            </a:r>
          </a:p>
        </p:txBody>
      </p:sp>
    </p:spTree>
    <p:extLst>
      <p:ext uri="{BB962C8B-B14F-4D97-AF65-F5344CB8AC3E}">
        <p14:creationId xmlns:p14="http://schemas.microsoft.com/office/powerpoint/2010/main" val="257343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F1BCE5-CF45-9BCE-9905-8E376F7B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anchor="b">
            <a:normAutofit/>
          </a:bodyPr>
          <a:lstStyle/>
          <a:p>
            <a:r>
              <a:rPr lang="en-US" dirty="0"/>
              <a:t>ARM Based SoC Architecture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163CBE-99A4-EB4E-0B5C-778F87B07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55" y="1945532"/>
            <a:ext cx="9601289" cy="40805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654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3199-EC84-CF17-5E87-FAF51BDF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91768" cy="578073"/>
          </a:xfrm>
        </p:spPr>
        <p:txBody>
          <a:bodyPr/>
          <a:lstStyle/>
          <a:p>
            <a:r>
              <a:rPr lang="en-US" dirty="0"/>
              <a:t>ARM Based SoC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A6BD8-52C1-6A93-647E-6D24C424F4F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1842760"/>
            <a:ext cx="10491768" cy="41833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A-Class Based Cluster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M-Class Based Subsystem for Security/PCR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Fabric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Coherent Interconnect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CCI/CMN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Non-Coherent Interconnect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NI-Tower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GIC Interrupt controller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LSIO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LPDDR Subsystems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HSIO Subsystem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Debug CSS600 Components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93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EA1C5-BCC3-3A8E-B009-2B6CB71F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FF79A-A0A5-A119-B999-56C96353E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91768" cy="578073"/>
          </a:xfrm>
        </p:spPr>
        <p:txBody>
          <a:bodyPr/>
          <a:lstStyle/>
          <a:p>
            <a:r>
              <a:rPr lang="en-US" dirty="0"/>
              <a:t>ARM Based SoC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A92CC-E2C1-C766-5B3E-298CDC9A6E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1842760"/>
            <a:ext cx="10491768" cy="41833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A-Class Based Cluster (ARMv8/v9 Architecture)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Big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Medium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Little Core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M-Class Based Subsystem for Security/PCR Management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M85/M55 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AON subsystem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Powering up Interconnect/PLLs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Init Subsystems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Fabric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Interconnects/Memory map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GIC/Interrupt map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684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25CC-2A3E-7A33-2297-53BCE522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77808" cy="571093"/>
          </a:xfrm>
        </p:spPr>
        <p:txBody>
          <a:bodyPr/>
          <a:lstStyle/>
          <a:p>
            <a:r>
              <a:rPr lang="en-US" dirty="0"/>
              <a:t>ARM Based SoC Architecture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53EA5A-2B84-4ADF-7325-544192CDF2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0040" y="1619395"/>
            <a:ext cx="10491768" cy="41833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Debug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APB ROM Table for Discovery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AHBAP/AXIAP Memory View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AP/DP Ports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Secure Transactions using CPU MMU Tables, IO Masters SMMU page 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RME features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Debug Security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SPIDEN/NIDEN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M-Class Authentication using OTP </a:t>
            </a:r>
          </a:p>
          <a:p>
            <a:pPr lvl="2"/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19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90F1-82DE-8D13-8BCE-E262AE93F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0E05137-C6ED-0BB5-2F23-180C86B1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63327" cy="661835"/>
          </a:xfrm>
        </p:spPr>
        <p:txBody>
          <a:bodyPr/>
          <a:lstStyle/>
          <a:p>
            <a:r>
              <a:rPr lang="en-US" dirty="0"/>
              <a:t>ARM Based SoC : UVM Testbench Design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ADD86-1172-4B38-91D2-B9AC37934B2F}"/>
              </a:ext>
            </a:extLst>
          </p:cNvPr>
          <p:cNvSpPr txBox="1"/>
          <p:nvPr/>
        </p:nvSpPr>
        <p:spPr>
          <a:xfrm>
            <a:off x="8250540" y="1954443"/>
            <a:ext cx="32038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Clock/Reset Agents</a:t>
            </a:r>
          </a:p>
          <a:p>
            <a:pPr marL="342900" indent="-342900">
              <a:buAutoNum type="arabicPeriod"/>
            </a:pPr>
            <a:r>
              <a:rPr lang="en-US" dirty="0"/>
              <a:t>P/Q Channel Agents </a:t>
            </a:r>
          </a:p>
          <a:p>
            <a:pPr marL="342900" indent="-342900">
              <a:buAutoNum type="arabicPeriod"/>
            </a:pPr>
            <a:r>
              <a:rPr lang="en-US" dirty="0"/>
              <a:t>CHI Agents</a:t>
            </a:r>
          </a:p>
          <a:p>
            <a:pPr marL="342900" indent="-342900">
              <a:buAutoNum type="arabicPeriod"/>
            </a:pPr>
            <a:r>
              <a:rPr lang="en-US" dirty="0"/>
              <a:t>ACE Agents </a:t>
            </a:r>
          </a:p>
          <a:p>
            <a:pPr marL="342900" indent="-342900">
              <a:buAutoNum type="arabicPeriod"/>
            </a:pPr>
            <a:r>
              <a:rPr lang="en-US" dirty="0"/>
              <a:t>Memory responders </a:t>
            </a:r>
          </a:p>
          <a:p>
            <a:pPr marL="342900" indent="-342900">
              <a:buAutoNum type="arabicPeriod"/>
            </a:pPr>
            <a:r>
              <a:rPr lang="en-US" dirty="0" err="1"/>
              <a:t>MailBox</a:t>
            </a:r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r>
              <a:rPr lang="en-US" dirty="0"/>
              <a:t>Test End Mechanism </a:t>
            </a:r>
          </a:p>
          <a:p>
            <a:pPr marL="342900" indent="-342900">
              <a:buAutoNum type="arabicPeriod"/>
            </a:pPr>
            <a:r>
              <a:rPr lang="en-US" dirty="0"/>
              <a:t>Coverage/Scoreboard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ACE4D4-3B7A-2962-3E47-202D374C6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69" y="1493753"/>
            <a:ext cx="7276228" cy="409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5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2FB9A-361E-DDBC-B09D-24DB8C7B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57FDD39-87F7-F9B5-C23D-D27DD49B2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63327" cy="661835"/>
          </a:xfrm>
        </p:spPr>
        <p:txBody>
          <a:bodyPr/>
          <a:lstStyle/>
          <a:p>
            <a:r>
              <a:rPr lang="en-US" dirty="0"/>
              <a:t>ARM Based SoC : C + UVM Testbench Design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10B6D-3DC3-1836-96AE-9906B98D94AF}"/>
              </a:ext>
            </a:extLst>
          </p:cNvPr>
          <p:cNvSpPr txBox="1"/>
          <p:nvPr/>
        </p:nvSpPr>
        <p:spPr>
          <a:xfrm>
            <a:off x="8760092" y="1954443"/>
            <a:ext cx="26943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ASM Code for A/M Class processor</a:t>
            </a:r>
          </a:p>
          <a:p>
            <a:pPr marL="342900" indent="-342900">
              <a:buAutoNum type="arabicPeriod"/>
            </a:pPr>
            <a:r>
              <a:rPr lang="en-US" dirty="0"/>
              <a:t>ARM RVDS compiler </a:t>
            </a:r>
          </a:p>
          <a:p>
            <a:pPr marL="342900" indent="-342900">
              <a:buAutoNum type="arabicPeriod"/>
            </a:pPr>
            <a:r>
              <a:rPr lang="en-US" dirty="0"/>
              <a:t>Scatter file to generate hex code </a:t>
            </a:r>
          </a:p>
          <a:p>
            <a:pPr marL="342900" indent="-342900">
              <a:buAutoNum type="arabicPeriod"/>
            </a:pPr>
            <a:r>
              <a:rPr lang="en-US" dirty="0"/>
              <a:t>Preload of hex code</a:t>
            </a:r>
          </a:p>
          <a:p>
            <a:pPr marL="342900" indent="-342900">
              <a:buAutoNum type="arabicPeriod"/>
            </a:pPr>
            <a:r>
              <a:rPr lang="en-US" dirty="0"/>
              <a:t>Reset/Clock to CPU RTL using UVM TB </a:t>
            </a:r>
          </a:p>
          <a:p>
            <a:pPr marL="342900" indent="-342900">
              <a:buAutoNum type="arabicPeriod"/>
            </a:pPr>
            <a:r>
              <a:rPr lang="en-US" dirty="0"/>
              <a:t>CPU Executing Boot Code and C-Test as </a:t>
            </a:r>
          </a:p>
          <a:p>
            <a:pPr marL="342900" indent="-342900">
              <a:buAutoNum type="arabicPeriod"/>
            </a:pPr>
            <a:r>
              <a:rPr lang="en-US" dirty="0"/>
              <a:t>Test End mechanism (C + UVM Drop objections)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C69E6-937B-E49A-BBD1-271843E24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89" y="1595261"/>
            <a:ext cx="7772400" cy="44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64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923E-54E9-15BB-D2E2-4523F0E96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87AE-A998-A00F-615E-AAADF5AD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77808" cy="571093"/>
          </a:xfrm>
        </p:spPr>
        <p:txBody>
          <a:bodyPr/>
          <a:lstStyle/>
          <a:p>
            <a:r>
              <a:rPr lang="en-US" dirty="0"/>
              <a:t>ARM Based SoC : C + UVM Testbench Design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2FF929-98FE-6166-F357-E5F8989A2C5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0040" y="1619395"/>
            <a:ext cx="4914626" cy="418331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 </a:t>
            </a:r>
            <a:r>
              <a:rPr lang="en-US" dirty="0" err="1"/>
              <a:t>Bringup</a:t>
            </a:r>
            <a:r>
              <a:rPr lang="en-US" dirty="0"/>
              <a:t> and C-Testcase execution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ASM Code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boot.s</a:t>
            </a:r>
            <a:endParaRPr lang="en-US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Init general purpose registers (x0-x30, r0-r12)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Init stack pointer and vector table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 err="1"/>
              <a:t>system_init</a:t>
            </a:r>
            <a:r>
              <a:rPr lang="en-US" dirty="0"/>
              <a:t>()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 jump to __main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/>
              <a:t>Internally Jumps to main()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vect.s</a:t>
            </a:r>
            <a:endParaRPr lang="en-US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Vector table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 Page Tables for A-Class Processor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C-Code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All Drivers (GIC/SMMU/PL011/DDR … 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Memory map definition </a:t>
            </a:r>
            <a:r>
              <a:rPr lang="en-US" dirty="0" err="1"/>
              <a:t>mem_map.h</a:t>
            </a:r>
            <a:r>
              <a:rPr lang="en-US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Interrupt map definition </a:t>
            </a:r>
            <a:r>
              <a:rPr lang="en-US" dirty="0" err="1"/>
              <a:t>intr_map.h</a:t>
            </a:r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00E0B7-6430-1EAD-ADCE-5CEE469132ED}"/>
              </a:ext>
            </a:extLst>
          </p:cNvPr>
          <p:cNvSpPr txBox="1">
            <a:spLocks/>
          </p:cNvSpPr>
          <p:nvPr/>
        </p:nvSpPr>
        <p:spPr>
          <a:xfrm>
            <a:off x="5638202" y="1619394"/>
            <a:ext cx="4914626" cy="41833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dirty="0"/>
          </a:p>
          <a:p>
            <a:pPr lvl="2"/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2F0692-01CF-4FBB-336F-D54475118CF1}"/>
              </a:ext>
            </a:extLst>
          </p:cNvPr>
          <p:cNvSpPr/>
          <p:nvPr/>
        </p:nvSpPr>
        <p:spPr>
          <a:xfrm>
            <a:off x="6477582" y="1793899"/>
            <a:ext cx="4746502" cy="31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armclag</a:t>
            </a:r>
            <a:r>
              <a:rPr lang="en-US" dirty="0"/>
              <a:t> to compile .</a:t>
            </a:r>
            <a:r>
              <a:rPr lang="en-US" dirty="0" err="1"/>
              <a:t>asm</a:t>
            </a:r>
            <a:r>
              <a:rPr lang="en-US" dirty="0"/>
              <a:t> files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1534052F-A9B4-04D3-667E-3B8CF670A180}"/>
              </a:ext>
            </a:extLst>
          </p:cNvPr>
          <p:cNvSpPr/>
          <p:nvPr/>
        </p:nvSpPr>
        <p:spPr>
          <a:xfrm>
            <a:off x="8808954" y="2121966"/>
            <a:ext cx="369948" cy="50955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25574E-A7B1-85A3-5A82-258789EE37B8}"/>
              </a:ext>
            </a:extLst>
          </p:cNvPr>
          <p:cNvSpPr/>
          <p:nvPr/>
        </p:nvSpPr>
        <p:spPr>
          <a:xfrm>
            <a:off x="6532260" y="2645478"/>
            <a:ext cx="4691824" cy="31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armclag</a:t>
            </a:r>
            <a:r>
              <a:rPr lang="en-US" dirty="0"/>
              <a:t> to compile .c files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E3EA88B9-76AB-6933-767C-F772938F51FD}"/>
              </a:ext>
            </a:extLst>
          </p:cNvPr>
          <p:cNvSpPr/>
          <p:nvPr/>
        </p:nvSpPr>
        <p:spPr>
          <a:xfrm>
            <a:off x="8863632" y="2973545"/>
            <a:ext cx="369948" cy="50955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F63E84-B98B-93DB-FA87-3F6094EDFFB0}"/>
              </a:ext>
            </a:extLst>
          </p:cNvPr>
          <p:cNvSpPr/>
          <p:nvPr/>
        </p:nvSpPr>
        <p:spPr>
          <a:xfrm>
            <a:off x="6532259" y="3483097"/>
            <a:ext cx="4691825" cy="31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armlink</a:t>
            </a:r>
            <a:r>
              <a:rPr lang="en-US" dirty="0"/>
              <a:t> to link .o files using scatter load 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33D118E-8F4E-928C-6D7D-E5761FAF588A}"/>
              </a:ext>
            </a:extLst>
          </p:cNvPr>
          <p:cNvSpPr/>
          <p:nvPr/>
        </p:nvSpPr>
        <p:spPr>
          <a:xfrm>
            <a:off x="8863632" y="3811164"/>
            <a:ext cx="369948" cy="50955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31085B-DFD1-728A-7980-929B1B4FD981}"/>
              </a:ext>
            </a:extLst>
          </p:cNvPr>
          <p:cNvSpPr/>
          <p:nvPr/>
        </p:nvSpPr>
        <p:spPr>
          <a:xfrm>
            <a:off x="6532259" y="4328798"/>
            <a:ext cx="4691825" cy="31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elf2hex converter to get hex files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E4C2004A-0195-1C02-66E5-21E1478000DB}"/>
              </a:ext>
            </a:extLst>
          </p:cNvPr>
          <p:cNvSpPr/>
          <p:nvPr/>
        </p:nvSpPr>
        <p:spPr>
          <a:xfrm>
            <a:off x="8863632" y="4633538"/>
            <a:ext cx="369948" cy="50955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2B004F-2D20-36FF-8977-C18E42C8E887}"/>
              </a:ext>
            </a:extLst>
          </p:cNvPr>
          <p:cNvSpPr/>
          <p:nvPr/>
        </p:nvSpPr>
        <p:spPr>
          <a:xfrm>
            <a:off x="6532259" y="5151172"/>
            <a:ext cx="4691825" cy="31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readmemh</a:t>
            </a:r>
            <a:r>
              <a:rPr lang="en-US" dirty="0"/>
              <a:t> to preload the files</a:t>
            </a:r>
          </a:p>
        </p:txBody>
      </p:sp>
    </p:spTree>
    <p:extLst>
      <p:ext uri="{BB962C8B-B14F-4D97-AF65-F5344CB8AC3E}">
        <p14:creationId xmlns:p14="http://schemas.microsoft.com/office/powerpoint/2010/main" val="630752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B0D6F-81E4-507B-A626-85835EC0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FAFA6-21E6-E838-E657-8F035604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77808" cy="571093"/>
          </a:xfrm>
        </p:spPr>
        <p:txBody>
          <a:bodyPr/>
          <a:lstStyle/>
          <a:p>
            <a:r>
              <a:rPr lang="en-US" dirty="0"/>
              <a:t>ARM Based SoC : C + UVM Testbench Design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AD9E1A-D99E-FC6E-DFDF-87AA51B810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0040" y="1619395"/>
            <a:ext cx="10491768" cy="4627842"/>
          </a:xfrm>
        </p:spPr>
        <p:txBody>
          <a:bodyPr/>
          <a:lstStyle/>
          <a:p>
            <a:pPr lvl="2"/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D7DA60-4401-723E-0D29-96A38ABB04F1}"/>
              </a:ext>
            </a:extLst>
          </p:cNvPr>
          <p:cNvSpPr/>
          <p:nvPr/>
        </p:nvSpPr>
        <p:spPr>
          <a:xfrm>
            <a:off x="2080084" y="2039032"/>
            <a:ext cx="3720423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Reset Handler (ASM Code)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3A159B32-F251-689C-5020-ACFBCE907E81}"/>
              </a:ext>
            </a:extLst>
          </p:cNvPr>
          <p:cNvSpPr/>
          <p:nvPr/>
        </p:nvSpPr>
        <p:spPr>
          <a:xfrm rot="5400000">
            <a:off x="3593586" y="2498530"/>
            <a:ext cx="546838" cy="3629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BB9F98-4D61-3FD2-C663-32707F21C4AF}"/>
              </a:ext>
            </a:extLst>
          </p:cNvPr>
          <p:cNvSpPr/>
          <p:nvPr/>
        </p:nvSpPr>
        <p:spPr>
          <a:xfrm>
            <a:off x="2080083" y="2953433"/>
            <a:ext cx="3720423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Identification of Core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9015785-9440-7054-0D6F-09A18D3E3203}"/>
              </a:ext>
            </a:extLst>
          </p:cNvPr>
          <p:cNvSpPr/>
          <p:nvPr/>
        </p:nvSpPr>
        <p:spPr>
          <a:xfrm rot="5400000">
            <a:off x="3593586" y="3408338"/>
            <a:ext cx="546838" cy="3629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3538CE-E862-9B39-711D-5F8B1335ECAA}"/>
              </a:ext>
            </a:extLst>
          </p:cNvPr>
          <p:cNvSpPr/>
          <p:nvPr/>
        </p:nvSpPr>
        <p:spPr>
          <a:xfrm>
            <a:off x="2080083" y="3877202"/>
            <a:ext cx="3720423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System_init</a:t>
            </a:r>
            <a:endParaRPr lang="en-US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B268E6F-D478-A103-E657-25AC60AD392F}"/>
              </a:ext>
            </a:extLst>
          </p:cNvPr>
          <p:cNvSpPr/>
          <p:nvPr/>
        </p:nvSpPr>
        <p:spPr>
          <a:xfrm rot="5400000">
            <a:off x="3635466" y="4332106"/>
            <a:ext cx="546838" cy="3629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4626B8-4667-1CDD-C7EC-42177784D511}"/>
              </a:ext>
            </a:extLst>
          </p:cNvPr>
          <p:cNvSpPr/>
          <p:nvPr/>
        </p:nvSpPr>
        <p:spPr>
          <a:xfrm>
            <a:off x="2080083" y="4810340"/>
            <a:ext cx="3720423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main()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7249CB85-9F78-E0CC-DD83-24CFBC76AF46}"/>
              </a:ext>
            </a:extLst>
          </p:cNvPr>
          <p:cNvSpPr/>
          <p:nvPr/>
        </p:nvSpPr>
        <p:spPr>
          <a:xfrm rot="5400000">
            <a:off x="3593585" y="5265244"/>
            <a:ext cx="546838" cy="3629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D16FCE-A95D-29FF-2489-2A9A1433643C}"/>
              </a:ext>
            </a:extLst>
          </p:cNvPr>
          <p:cNvSpPr/>
          <p:nvPr/>
        </p:nvSpPr>
        <p:spPr>
          <a:xfrm>
            <a:off x="2080083" y="5720146"/>
            <a:ext cx="3720423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test_end</a:t>
            </a:r>
            <a:r>
              <a:rPr lang="en-US" dirty="0"/>
              <a:t>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A3CC2D-59FB-36B8-B6ED-9BCBA0F9A669}"/>
              </a:ext>
            </a:extLst>
          </p:cNvPr>
          <p:cNvSpPr/>
          <p:nvPr/>
        </p:nvSpPr>
        <p:spPr>
          <a:xfrm>
            <a:off x="6183268" y="2009951"/>
            <a:ext cx="3720423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run_phase</a:t>
            </a:r>
            <a:r>
              <a:rPr lang="en-US" dirty="0"/>
              <a:t> clock/reset sequences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E7086D3-B8C5-D245-B724-0BE19D429693}"/>
              </a:ext>
            </a:extLst>
          </p:cNvPr>
          <p:cNvSpPr/>
          <p:nvPr/>
        </p:nvSpPr>
        <p:spPr>
          <a:xfrm rot="5400000">
            <a:off x="7696770" y="2469449"/>
            <a:ext cx="546838" cy="3629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D8BA1-47BA-6AB6-77C6-746EFF64B3DE}"/>
              </a:ext>
            </a:extLst>
          </p:cNvPr>
          <p:cNvSpPr/>
          <p:nvPr/>
        </p:nvSpPr>
        <p:spPr>
          <a:xfrm>
            <a:off x="6183267" y="2924352"/>
            <a:ext cx="3720423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Event/</a:t>
            </a:r>
            <a:r>
              <a:rPr lang="en-US" dirty="0" err="1"/>
              <a:t>mail_box</a:t>
            </a:r>
            <a:r>
              <a:rPr lang="en-US" dirty="0"/>
              <a:t> wait 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E32000B1-073A-00E6-8200-54112820A0FB}"/>
              </a:ext>
            </a:extLst>
          </p:cNvPr>
          <p:cNvSpPr/>
          <p:nvPr/>
        </p:nvSpPr>
        <p:spPr>
          <a:xfrm rot="5400000">
            <a:off x="7696770" y="3379257"/>
            <a:ext cx="546838" cy="3629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1C71D1-8387-8212-7B32-815DB42D275B}"/>
              </a:ext>
            </a:extLst>
          </p:cNvPr>
          <p:cNvSpPr/>
          <p:nvPr/>
        </p:nvSpPr>
        <p:spPr>
          <a:xfrm>
            <a:off x="6183267" y="3848121"/>
            <a:ext cx="3777411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event to trigger sequences 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109FC6AA-E914-9A99-9F09-401349D8ABB9}"/>
              </a:ext>
            </a:extLst>
          </p:cNvPr>
          <p:cNvSpPr/>
          <p:nvPr/>
        </p:nvSpPr>
        <p:spPr>
          <a:xfrm rot="5400000">
            <a:off x="7738650" y="4303025"/>
            <a:ext cx="546838" cy="3629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86F263-630F-24EB-5FDE-1148744CE26A}"/>
              </a:ext>
            </a:extLst>
          </p:cNvPr>
          <p:cNvSpPr/>
          <p:nvPr/>
        </p:nvSpPr>
        <p:spPr>
          <a:xfrm>
            <a:off x="6183267" y="4781259"/>
            <a:ext cx="3720423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Coverage/</a:t>
            </a:r>
            <a:r>
              <a:rPr lang="en-US" dirty="0" err="1"/>
              <a:t>scoreboarding</a:t>
            </a:r>
            <a:endParaRPr lang="en-US" dirty="0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3CE04602-14C7-FA73-AE20-C973138ED9C9}"/>
              </a:ext>
            </a:extLst>
          </p:cNvPr>
          <p:cNvSpPr/>
          <p:nvPr/>
        </p:nvSpPr>
        <p:spPr>
          <a:xfrm rot="5400000">
            <a:off x="7696769" y="5236163"/>
            <a:ext cx="546838" cy="3629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35EDE9-9CAE-2392-B9D7-C3A274B5C125}"/>
              </a:ext>
            </a:extLst>
          </p:cNvPr>
          <p:cNvSpPr/>
          <p:nvPr/>
        </p:nvSpPr>
        <p:spPr>
          <a:xfrm>
            <a:off x="6183267" y="5691065"/>
            <a:ext cx="3720423" cy="362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drop_objections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94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074E-DAEC-6614-8CC8-F7B2A6D8F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1D7FA5-53AB-CF2F-8A84-8D1813A5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63327" cy="661835"/>
          </a:xfrm>
        </p:spPr>
        <p:txBody>
          <a:bodyPr/>
          <a:lstStyle/>
          <a:p>
            <a:r>
              <a:rPr lang="en-US" dirty="0"/>
              <a:t>ARM Based SoC : </a:t>
            </a:r>
            <a:r>
              <a:rPr lang="en-US" dirty="0" err="1"/>
              <a:t>Bringup</a:t>
            </a:r>
            <a:r>
              <a:rPr lang="en-US" dirty="0"/>
              <a:t> and CPU Boot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71C4A-915A-03D1-ADC3-66B875936A92}"/>
              </a:ext>
            </a:extLst>
          </p:cNvPr>
          <p:cNvSpPr txBox="1"/>
          <p:nvPr/>
        </p:nvSpPr>
        <p:spPr>
          <a:xfrm>
            <a:off x="8760092" y="1954443"/>
            <a:ext cx="26943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Preload hex code in reset vector pointed memory </a:t>
            </a:r>
          </a:p>
          <a:p>
            <a:endParaRPr lang="en-US" dirty="0"/>
          </a:p>
          <a:p>
            <a:r>
              <a:rPr lang="en-US" dirty="0"/>
              <a:t>2. Core starts executing after reset / clock</a:t>
            </a:r>
          </a:p>
          <a:p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/>
              <a:t>Enable tarmac for debugs </a:t>
            </a:r>
          </a:p>
          <a:p>
            <a:pPr marL="342900" indent="-342900">
              <a:buAutoNum type="arabicPeriod" startAt="3"/>
            </a:pPr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/>
              <a:t>CPU Powers up and executes </a:t>
            </a:r>
            <a:r>
              <a:rPr lang="en-US" dirty="0" err="1"/>
              <a:t>bootcode</a:t>
            </a:r>
            <a:r>
              <a:rPr lang="en-US" dirty="0"/>
              <a:t> + simple </a:t>
            </a:r>
            <a:r>
              <a:rPr lang="en-US" dirty="0" err="1"/>
              <a:t>hello_world</a:t>
            </a:r>
            <a:r>
              <a:rPr lang="en-US" dirty="0"/>
              <a:t> test, write to LSIO UART and prints </a:t>
            </a:r>
          </a:p>
          <a:p>
            <a:pPr marL="342900" indent="-342900">
              <a:buAutoNum type="arabicPeriod" startAt="3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F0D440-CB91-7E3A-BBB3-9A7CD0544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89" y="1595261"/>
            <a:ext cx="7772400" cy="44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1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72428-8E86-35B5-6142-5D6A8094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8CD2F77-8A29-89C0-A879-66F092E2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63327" cy="661835"/>
          </a:xfrm>
        </p:spPr>
        <p:txBody>
          <a:bodyPr/>
          <a:lstStyle/>
          <a:p>
            <a:r>
              <a:rPr lang="en-US" dirty="0"/>
              <a:t>ARM Based SoC : Software Library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BCB41-6913-80A7-B233-A402C61F9F57}"/>
              </a:ext>
            </a:extLst>
          </p:cNvPr>
          <p:cNvSpPr txBox="1"/>
          <p:nvPr/>
        </p:nvSpPr>
        <p:spPr>
          <a:xfrm>
            <a:off x="844000" y="1673530"/>
            <a:ext cx="105825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Software Boot code Library availability for A/M/R Cores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Software interrupt handling for A+M class processors</a:t>
            </a:r>
          </a:p>
          <a:p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/>
              <a:t>Memory read/write functions </a:t>
            </a:r>
          </a:p>
          <a:p>
            <a:pPr marL="342900" indent="-342900">
              <a:buAutoNum type="arabicPeriod" startAt="3"/>
            </a:pPr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/>
              <a:t>Power C-Library</a:t>
            </a:r>
          </a:p>
          <a:p>
            <a:pPr marL="342900" indent="-342900">
              <a:buAutoNum type="arabicPeriod" startAt="3"/>
            </a:pPr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/>
              <a:t>Drivers for LSIO and Peripherals </a:t>
            </a:r>
          </a:p>
          <a:p>
            <a:pPr marL="342900" indent="-342900">
              <a:buAutoNum type="arabicPeriod" startAt="3"/>
            </a:pPr>
            <a:endParaRPr lang="en-US" dirty="0"/>
          </a:p>
          <a:p>
            <a:pPr marL="342900" indent="-342900">
              <a:buAutoNum type="arabicPeriod" startAt="3"/>
            </a:pPr>
            <a:r>
              <a:rPr lang="en-US" dirty="0"/>
              <a:t>Deep knowledge on both GCC and ARM compiler</a:t>
            </a:r>
          </a:p>
        </p:txBody>
      </p:sp>
    </p:spTree>
    <p:extLst>
      <p:ext uri="{BB962C8B-B14F-4D97-AF65-F5344CB8AC3E}">
        <p14:creationId xmlns:p14="http://schemas.microsoft.com/office/powerpoint/2010/main" val="288940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3E4C-0432-3FD8-CCAD-3E57D185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7253425-7273-1FA4-1BDB-D545AF08D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63327" cy="661835"/>
          </a:xfrm>
        </p:spPr>
        <p:txBody>
          <a:bodyPr/>
          <a:lstStyle/>
          <a:p>
            <a:r>
              <a:rPr lang="en-US" dirty="0"/>
              <a:t>ARM Based SoC : Fabric Verification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7CE17-3ABC-1FE0-F414-B0745D1AE22B}"/>
              </a:ext>
            </a:extLst>
          </p:cNvPr>
          <p:cNvSpPr txBox="1"/>
          <p:nvPr/>
        </p:nvSpPr>
        <p:spPr>
          <a:xfrm>
            <a:off x="628214" y="1954443"/>
            <a:ext cx="108262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Memory map verification using UVM Agents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Interrupt map, connectivity + functional verification </a:t>
            </a:r>
          </a:p>
          <a:p>
            <a:endParaRPr lang="en-US" dirty="0"/>
          </a:p>
          <a:p>
            <a:r>
              <a:rPr lang="en-US" dirty="0"/>
              <a:t>3. Debug discovery </a:t>
            </a:r>
          </a:p>
          <a:p>
            <a:endParaRPr lang="en-US" dirty="0"/>
          </a:p>
          <a:p>
            <a:r>
              <a:rPr lang="en-US" dirty="0"/>
              <a:t>4. IOPAD</a:t>
            </a:r>
          </a:p>
          <a:p>
            <a:endParaRPr lang="en-US" dirty="0"/>
          </a:p>
          <a:p>
            <a:r>
              <a:rPr lang="en-US" dirty="0"/>
              <a:t>5. Fuse 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17550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3C97D-4993-88A4-8369-2DC10B62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FF010AA-5F8E-D19E-D056-66963ABFC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63327" cy="661835"/>
          </a:xfrm>
        </p:spPr>
        <p:txBody>
          <a:bodyPr/>
          <a:lstStyle/>
          <a:p>
            <a:r>
              <a:rPr lang="en-US" dirty="0"/>
              <a:t>ARM Based SoC : PCR Verification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999092-7E62-B21E-00E0-E28C85029F22}"/>
              </a:ext>
            </a:extLst>
          </p:cNvPr>
          <p:cNvSpPr txBox="1"/>
          <p:nvPr/>
        </p:nvSpPr>
        <p:spPr>
          <a:xfrm>
            <a:off x="844000" y="1814840"/>
            <a:ext cx="106935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Clock domain verification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Clock gating/</a:t>
            </a:r>
            <a:r>
              <a:rPr lang="en-US" dirty="0" err="1"/>
              <a:t>ungating</a:t>
            </a:r>
            <a:r>
              <a:rPr lang="en-US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All clock q-channel q-active contributor checks </a:t>
            </a:r>
          </a:p>
          <a:p>
            <a:pPr marL="800100" lvl="1" indent="-342900">
              <a:buAutoNum type="arabicPeriod"/>
            </a:pPr>
            <a:endParaRPr lang="en-US" dirty="0"/>
          </a:p>
          <a:p>
            <a:pPr marL="800100" lvl="1" indent="-342900">
              <a:buAutoNum type="arabicPeriod"/>
            </a:pPr>
            <a:endParaRPr lang="en-US" dirty="0"/>
          </a:p>
          <a:p>
            <a:r>
              <a:rPr lang="en-US" dirty="0"/>
              <a:t>2. Power Verification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Functional verification scenarios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Power domain ON-&gt;OFF/FUNC/FULL_RET-&gt;WARM_RESET</a:t>
            </a:r>
          </a:p>
          <a:p>
            <a:endParaRPr lang="en-US" dirty="0"/>
          </a:p>
          <a:p>
            <a:r>
              <a:rPr lang="en-US" dirty="0"/>
              <a:t>3. Power Verification : UPF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PST verification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Clamp assertions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QPA Assertions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Clock gating + Power scenarios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12825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3E7E-0625-7CBE-6AC1-472FE7A6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2EB944-7F72-46EF-4F2B-CEEBCD62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63327" cy="661835"/>
          </a:xfrm>
        </p:spPr>
        <p:txBody>
          <a:bodyPr/>
          <a:lstStyle/>
          <a:p>
            <a:r>
              <a:rPr lang="en-US" dirty="0"/>
              <a:t>ARM Based SoC : Boot Flow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4250F-1F51-C491-69EA-E29DB1F0AAAA}"/>
              </a:ext>
            </a:extLst>
          </p:cNvPr>
          <p:cNvSpPr txBox="1"/>
          <p:nvPr/>
        </p:nvSpPr>
        <p:spPr>
          <a:xfrm>
            <a:off x="844000" y="1814840"/>
            <a:ext cx="106935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Verification of Boot Flow Specific to the SOC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 Software </a:t>
            </a:r>
            <a:r>
              <a:rPr lang="en-US" dirty="0" err="1"/>
              <a:t>BootFlow</a:t>
            </a:r>
            <a:r>
              <a:rPr lang="en-US" dirty="0"/>
              <a:t> on RTL</a:t>
            </a:r>
          </a:p>
          <a:p>
            <a:endParaRPr lang="en-US" dirty="0"/>
          </a:p>
          <a:p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56941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83F7-1F91-0D25-AAB9-CB887CB4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ABAAC5-67EC-9C0C-8B05-A9C082B2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463327" cy="661835"/>
          </a:xfrm>
        </p:spPr>
        <p:txBody>
          <a:bodyPr/>
          <a:lstStyle/>
          <a:p>
            <a:r>
              <a:rPr lang="en-US" dirty="0"/>
              <a:t>ARM Based SoC : GLS Verification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1B26C-4E6E-3819-B567-78319827EBE1}"/>
              </a:ext>
            </a:extLst>
          </p:cNvPr>
          <p:cNvSpPr txBox="1"/>
          <p:nvPr/>
        </p:nvSpPr>
        <p:spPr>
          <a:xfrm>
            <a:off x="844000" y="1814840"/>
            <a:ext cx="106935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Zero Delay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NRF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LEC Clean DFT Inserted netlist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TB Updates due to bit-blasted flattened netlist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X-prop debugs 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BISR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	Memory repairs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68930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EED647-84CF-1A16-4D69-1DA7D6922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1476" y="1153634"/>
            <a:ext cx="5184248" cy="4550732"/>
          </a:xfrm>
        </p:spPr>
        <p:txBody>
          <a:bodyPr/>
          <a:lstStyle/>
          <a:p>
            <a:r>
              <a:rPr lang="en-US" altLang="zh-CN"/>
              <a:t>Thank you</a:t>
            </a:r>
            <a:endParaRPr lang="en-US"/>
          </a:p>
        </p:txBody>
      </p:sp>
      <p:pic>
        <p:nvPicPr>
          <p:cNvPr id="5" name="Picture Placeholder 4" descr="Modern glass building in black and white.">
            <a:extLst>
              <a:ext uri="{FF2B5EF4-FFF2-40B4-BE49-F238E27FC236}">
                <a16:creationId xmlns:a16="http://schemas.microsoft.com/office/drawing/2014/main" id="{73988C3C-9CF5-8861-742A-E259DD36B96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0" y="0"/>
            <a:ext cx="6256866" cy="6858000"/>
          </a:xfrm>
        </p:spPr>
      </p:pic>
    </p:spTree>
    <p:extLst>
      <p:ext uri="{BB962C8B-B14F-4D97-AF65-F5344CB8AC3E}">
        <p14:creationId xmlns:p14="http://schemas.microsoft.com/office/powerpoint/2010/main" val="518133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0C76C-AAF9-4815-AD6C-88260D28D4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3.xml><?xml version="1.0" encoding="utf-8"?>
<ds:datastoreItem xmlns:ds="http://schemas.openxmlformats.org/officeDocument/2006/customXml" ds:itemID="{860D4B54-28E2-4923-AAAE-FE6B2DA9C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2842</TotalTime>
  <Words>662</Words>
  <Application>Microsoft Macintosh PowerPoint</Application>
  <PresentationFormat>Widescreen</PresentationFormat>
  <Paragraphs>192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Franklin Gothic Heavy</vt:lpstr>
      <vt:lpstr>Custom</vt:lpstr>
      <vt:lpstr> ARM Based SoC Verification </vt:lpstr>
      <vt:lpstr>Agenda</vt:lpstr>
      <vt:lpstr>ARM Based SoC Architecture </vt:lpstr>
      <vt:lpstr>ARM Based SoC Architecture </vt:lpstr>
      <vt:lpstr>ARM Based SoC Architecture </vt:lpstr>
      <vt:lpstr>ARM Based SoC Architecture </vt:lpstr>
      <vt:lpstr>ARM Based SoC : UVM Testbench Design </vt:lpstr>
      <vt:lpstr>ARM Based SoC : C + UVM Testbench Design </vt:lpstr>
      <vt:lpstr>ARM Based SoC : C + UVM Testbench Design </vt:lpstr>
      <vt:lpstr>ARM Based SoC : C + UVM Testbench Design </vt:lpstr>
      <vt:lpstr>ARM Based SoC : Bringup and CPU Boot </vt:lpstr>
      <vt:lpstr>ARM Based SoC : Software Library </vt:lpstr>
      <vt:lpstr>ARM Based SoC : Fabric Verification  </vt:lpstr>
      <vt:lpstr>ARM Based SoC : PCR Verification </vt:lpstr>
      <vt:lpstr>ARM Based SoC : Boot Flow </vt:lpstr>
      <vt:lpstr>ARM Based SoC : GLS Verification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Vishakha Joshi</cp:lastModifiedBy>
  <cp:revision>5</cp:revision>
  <dcterms:created xsi:type="dcterms:W3CDTF">2026-03-15T23:18:32Z</dcterms:created>
  <dcterms:modified xsi:type="dcterms:W3CDTF">2026-03-17T22:43:51Z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